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3108960"/>
            <a:ext cx="7159752" cy="54864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WalkMe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8AA"/>
                </a:solidFill>
                <a:latin typeface="Calibri"/>
              </a:rPr>
              <a:t>Builder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Instructor-Led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CCE5FF"/>
                </a:solidFill>
                <a:latin typeface="Calibri"/>
              </a:rPr>
              <a:t>For Beginners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3931920" cy="36576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188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AA"/>
                </a:solidFill>
                <a:latin typeface="Calibri"/>
              </a:rPr>
              <a:t>Course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87451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E5FF"/>
                </a:solidFill>
                <a:latin typeface="Calibri"/>
              </a:rPr>
              <a:t>Duration: 1 Day (8 hours)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27685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E5FF"/>
                </a:solidFill>
                <a:latin typeface="Calibri"/>
              </a:rPr>
              <a:t>Format: Instructor-Led (ILT)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67919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E5FF"/>
                </a:solidFill>
                <a:latin typeface="Calibri"/>
              </a:rPr>
              <a:t>Level: Beginner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081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483863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AA"/>
                </a:solidFill>
                <a:latin typeface="Calibri"/>
              </a:rPr>
              <a:t>You will learn 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886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  ✔  Navigate the WalkMe Editor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28853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  ✔  Build Smart Walk-Thrus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69087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  ✔  Create SmartTips &amp; ShoutOuts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0932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  ✔  Use Launchers &amp;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549554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  ✔  Publish &amp; test content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19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Calibri"/>
              </a:rPr>
              <a:t>WalkMe Builder 1  |  ILT  | 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Course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What we'll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Welcome &amp; Introduction to WalkMe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Who uses WalkMe and why? Key terminology.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The WalkMe Editor — Your Command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Navigating the editor, sidebar, and main menu.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Smart Walk-Thrus (SWT)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Step-by-step guided flows — the core WalkMe content type.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SmartTips &amp; ShoutOuts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44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Contextual tooltips and announcement banners.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Launchers &amp; Resources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67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Trigger flows and surface help content on demand.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Publishing, Testing &amp; Best Practices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1904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Preview, publish, and validate your content.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629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629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Hands-On Lab &amp; 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70134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Build your first Walk-Thru from scratch!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is WalkMe?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1 —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WalkMe is a Digital Adoption Platform (DAP)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It sits on top of any web application and guides users through tasks in real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Who uses WalkMe?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HR teams, IT, Sales Ops, Customer Success, L&amp;D — anyone who wants users to succeed in software.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What does WalkMe Builder do?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The Builder (Editor) lets you create guided content — no coding required!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How is it deployed?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44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As a browser extension (for testing) or embedded script tag on your web application.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Core content types you'll build today: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67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Smart Walk-Thrus  |  SmartTips  |  ShoutOuts  |  Launchers  |  Resources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1 — Know the language before you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Step  —  A single instruction in a Walk-Thru (click here, fill this field…)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6712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Flow  —  A sequence of steps that guides a user to complete a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4261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4261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Selector  —  The code 'fingerprint' WalkMe uses to identify an element on-screen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1810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Trigger  —  The condition or action that starts a WalkMe item (auto, click, URL…)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935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935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Segment  —  A rule to show content only to specific users or in specific contexts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Publish  —  Pushing your saved content live so end users can see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445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445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Environment  —  Separate spaces (Test vs. Production) for safe building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WalkMe Editor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2 — Your Command Center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🖥️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Access the Editor via the WalkMe browser 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Click the WalkMe icon in your browser toolbar → opens the floating editor panel.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Left Sidebar — Content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All your Walk-Thrus, SmartTips, ShoutOuts, and Launchers live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The '+' Button — Create New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Use this to create any new item. Choose the content type from the dropdown.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Element Capture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44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Click the crosshair icon to let WalkMe capture a page element and build a selector.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Settings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67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Each item has its own settings: name, trigger, segmentation, and display options.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👁️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Preview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1904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Test your content in real time before publishing — always preview first!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Smart Walk-Thrus (SWT)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3 — Step-by-step guided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What is a Smart Walk-Thru?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An interactive overlay that guides users step-by-step through a task on any webpage.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1️⃣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Step Types you can add: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Bubble (tooltip), Click, Type, Select, Hotspot, Alert, Frame — each fits a different interaction.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Capturing Elements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Use the crosshair to click any page element. WalkMe auto-generates a selector for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✏️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Writing Step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44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Keep instructions short: 'Click the Save button.' Use action verbs. Avoid jargon.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Step 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67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Action (what triggers moving to next step), placement (where bubble appears), and conditions.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Best 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1904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Limit flows to 7–10 steps. Break long processes into multiple Walk-Thrus.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Building Your First Walk-Thru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3 — Step-by-step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Click '+' in the Editor → Choose 'Smart Walk-Thru'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6712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Give it a clear name  (e.g., 'Submit a New Expense Report')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4261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4261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Click '+ Add Step' → Select step type (usually 'Bubble')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1810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Use the crosshair to capture the first element the user needs to interact with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935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935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Write the instruction text in the bubble 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Set the Action (e.g., 'On Click' to auto-advance when user clicks)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445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445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Repeat ③–⑥ for each step → then click Preview to test!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SmartTips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4 — Contextual tooltips at the point of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What is a SmartTip?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A small tooltip that appears when a user hovers over or focuses on a specific UI element.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Best used for: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Field-level help, definitions, policy reminders, warnings, and inline instructions.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How to create: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Click '+' → SmartTip → Capture the element → Add your tip text → Set trigger (Hover/Focus).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🖼️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You can add: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44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Text, images, links, and even embedded videos inside a SmartTip balloon.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Best Practice: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67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Keep SmartTip text under 30 words. Link to longer documentation if needed.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ShoutOuts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4 — Announcements &amp; 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What is a ShoutOut?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A full-screen or banner overlay used to announce updates, new features, or important messages.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Layout options: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Banner (top/bottom), Modal (center), or Beacon (dot that expands on click).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How to create: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Click '+' → ShoutOut → Choose template → Edit text, images, CTA buttons → Set trigger.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⏱️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Trigger Options: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44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On page load, on URL match, scheduled date range, or after X days since last seen.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Avoid overuse: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67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ShoutOuts interrupt workflows. Only use for high-priority, time-sensitive announcements.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Launchers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5 — On-demand triggers for WalkMe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What is a Launcher?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A clickable button or icon that users can click to start a Walk-Thru or open a Resource on demand.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Where do Launchers appear?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Attached to a specific element on the page, or floating anywhere on screen.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How to create: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Click '+' → Launcher → Choose an icon/style → Set what it launches (Walk-Thru, URL, Resource).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Customization: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44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Use your company icon, custom text, or WalkMe's built-in icon library.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Best Practice: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67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Place Launchers near the task they support. Label them clearly: 'How do I submit a report?'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5 — Surfacing help content inside your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What is a Resource?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A help article, video, PDF, or link surfaced inside your app via WalkMe's Resource panel.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🗂️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Resource Center: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A searchable help widget users can open anytime — like an in-app knowledge 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How to create: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Click '+' → Resource → Choose type (Article / Video / Link) → Add content → Save.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Linking Resources to Launchers: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44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Set a Launcher to open a Resource so users get help exactly when and where they need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Best Practice: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67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Organize Resources into categories. Keep titles searchable: 'How to submit an expense.'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Publishing &amp; Testing Your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6 — From build to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Step 1 —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Always click 'Preview' first. Walk through your own flow as an end user to catch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Step 2 — Save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Content is saved as a Draft automatically. Saved ≠ Published — users can't see it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Step 3 — Publish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216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Click 'Publish' to push live. Choose environment: Test first, then Production.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Step 4 — Test 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445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Open a private/incognito window and experience the flow as a real user would.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83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Step 5 — Check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67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WalkMe Insights shows completions, drop-offs, and engagement — use data to improve.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06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♻️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Iterate!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1904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Good content is never 'done.' Review analytics monthly and update as the app changes.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Best Practices for Beginners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6 — Build right from the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✍️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Write for your audience — use plain language, avoid IT jargon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671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6712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One task, one Walk-Thru — don't try to do everything in a single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4261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4261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Test on the same browser your users use — selectors can vary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1810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🏷️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Name everything clearly — future-you will thank present-you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9359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935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Re-capture selectors when the app UI changes — don't let them break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Monitor analytics weekly during the first month after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445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445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Collaborate — share your Editor access with SMEs who know the process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  <a:latin typeface="Calibri"/>
              </a:rPr>
              <a:t>Module 7 — Build it yourself!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61872"/>
            <a:ext cx="12188952" cy="5596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4887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Lab Goal: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5A"/>
                </a:solidFill>
                <a:latin typeface="Calibri"/>
              </a:rPr>
              <a:t>Build a complete guided flow on the WalkMe demo website from scratch.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Create a Smart Walk-Thru with at least 4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008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Add one SmartTip to a form field on the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6557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Create a Launcher that triggers your Walk-Thru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4106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4106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Preview your content — fix any broken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165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165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  <a:latin typeface="Calibri"/>
              </a:rPr>
              <a:t>Publish to Test environment and walk a partner through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92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6EFF"/>
                </a:solidFill>
                <a:latin typeface="Calibri"/>
              </a:rPr>
              <a:t>⏱️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92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  <a:latin typeface="Calibri"/>
              </a:rPr>
              <a:t>Time: 45 minutes | Then: 15 min group debrief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WalkMe Builder 1  |  Instructor-Led Training  |  For Beginners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10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Course Summary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486400" cy="50292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AA"/>
                </a:solidFill>
                <a:latin typeface="Calibri"/>
              </a:rPr>
              <a:t>What You Learned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✔  Navigating the WalkMe 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✔  Building Smart Walk-Thrus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✔  Creating SmartTips &amp; ShoutOuts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112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✔  Using Launchers &amp;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502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✔  Publishing and testing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✔  Best practices for beginners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669280" cy="5029200"/>
          </a:xfrm>
          <a:prstGeom prst="rect">
            <a:avLst/>
          </a:prstGeom>
          <a:solidFill>
            <a:srgbClr val="2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AA"/>
                </a:solidFill>
                <a:latin typeface="Calibri"/>
              </a:rPr>
              <a:t>Your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📌  Complete the post-course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334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📌  Build 1 real Walk-Thru this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723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📌  Enroll in WalkMe Builder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112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📌  Join the WalkMe Community forum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502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📌  Bookmark WalkMe's Help Center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89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📌  Schedule a 1:1 with your WalkMe admin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AA"/>
                </a:solidFill>
                <a:latin typeface="Calibri"/>
              </a:rPr>
              <a:t>Thank you for attending WalkMe Builder 1!  🎉  Questions?  Raise your hand.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-1371600"/>
            <a:ext cx="6400800" cy="6400800"/>
          </a:xfrm>
          <a:prstGeom prst="rect">
            <a:avLst/>
          </a:prstGeom>
          <a:solidFill>
            <a:srgbClr val="005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Questions &amp;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0C8AA"/>
                </a:solidFill>
                <a:latin typeface="Calibri"/>
              </a:rPr>
              <a:t>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794760"/>
            <a:ext cx="4114800" cy="73152"/>
          </a:xfrm>
          <a:prstGeom prst="rect">
            <a:avLst/>
          </a:prstGeom>
          <a:solidFill>
            <a:srgbClr val="00C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77639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Raise your hand or type in the chat!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CE5FF"/>
                </a:solidFill>
                <a:latin typeface="Calibri"/>
              </a:rPr>
              <a:t>WalkMe Help Center:  help.walkme.com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CE5FF"/>
                </a:solidFill>
                <a:latin typeface="Calibri"/>
              </a:rPr>
              <a:t>WalkMe Community:  community.walkme.com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Calibri"/>
              </a:rPr>
              <a:t>WalkMe Builder 1  |  ILT  |  Beginner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