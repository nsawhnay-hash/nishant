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7315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3248" y="0"/>
            <a:ext cx="731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2976" y="0"/>
            <a:ext cx="7315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32704" y="0"/>
            <a:ext cx="731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42431" y="0"/>
            <a:ext cx="7315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59" y="0"/>
            <a:ext cx="731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61888" y="0"/>
            <a:ext cx="7315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0"/>
            <a:ext cx="731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029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303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  WalkMe™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234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Segoe UI Black"/>
              </a:rPr>
              <a:t>Builder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94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AA"/>
                </a:solidFill>
                <a:latin typeface="Segoe UI"/>
              </a:rPr>
              <a:t>Instructor-Led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9BBDD"/>
                </a:solidFill>
                <a:latin typeface="Segoe UI"/>
              </a:rPr>
              <a:t>Beginner Level  ·  Full-Day Course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37560"/>
            <a:ext cx="45720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749039"/>
            <a:ext cx="5212080" cy="621792"/>
          </a:xfrm>
          <a:prstGeom prst="roundRect">
            <a:avLst>
              <a:gd name="adj" fmla="val 8000"/>
            </a:avLst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83133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803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AA"/>
                </a:solidFill>
                <a:latin typeface="Segoe UI"/>
              </a:rPr>
              <a:t>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0507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8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434840"/>
            <a:ext cx="5212080" cy="621792"/>
          </a:xfrm>
          <a:prstGeom prst="roundRect">
            <a:avLst>
              <a:gd name="adj" fmla="val 8000"/>
            </a:avLst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517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897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AA"/>
                </a:solidFill>
                <a:latin typeface="Segoe UI"/>
              </a:rPr>
              <a:t>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736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Instructor-Led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5120640"/>
            <a:ext cx="5212080" cy="621792"/>
          </a:xfrm>
          <a:prstGeom prst="roundRect">
            <a:avLst>
              <a:gd name="adj" fmla="val 8000"/>
            </a:avLst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202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1755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AA"/>
                </a:solidFill>
                <a:latin typeface="Segoe UI"/>
              </a:rPr>
              <a:t>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422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Beginner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806440"/>
            <a:ext cx="5212080" cy="621792"/>
          </a:xfrm>
          <a:prstGeom prst="roundRect">
            <a:avLst>
              <a:gd name="adj" fmla="val 8000"/>
            </a:avLst>
          </a:prstGeom>
          <a:solidFill>
            <a:srgbClr val="1E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58887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8613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AA"/>
                </a:solidFill>
                <a:latin typeface="Segoe UI"/>
              </a:rPr>
              <a:t>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6108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Hands-On Labs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2344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  <a:latin typeface="Segoe UI"/>
              </a:rPr>
              <a:t>Master the WalkMe Editor and build your first
guided experiences — no coding required!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Course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What we will cover today — 7 modules + hands-on lab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81912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81912"/>
            <a:ext cx="201168" cy="146304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2057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7335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🌐  Introduction to WalkMe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57400"/>
            <a:ext cx="2788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What WalkMe is, why it matters, key terminology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581912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581912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581912"/>
            <a:ext cx="201168" cy="146304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057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67335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🖥️  The WalkMe Editor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057400"/>
            <a:ext cx="2788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Interface walkthrough &amp; element capture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581912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581912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19" y="1581912"/>
            <a:ext cx="201168" cy="14630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1" y="2057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67335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🚶  Smart Walk-Thrus (SWT)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057400"/>
            <a:ext cx="2788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Build step-by-step guided 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3756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37560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337560"/>
            <a:ext cx="201168" cy="1463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8130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429000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💬  SmartTips &amp; ShoutOuts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813048"/>
            <a:ext cx="2788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Tooltips, banners, and announcements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33756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3337560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3337560"/>
            <a:ext cx="201168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38130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429000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🚀  Launchers &amp; Resources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813048"/>
            <a:ext cx="2788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On-demand triggers and help content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33756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79" y="3337560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19" y="3337560"/>
            <a:ext cx="201168" cy="146304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381304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3429000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📊  Publishing, Testing &amp;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813048"/>
            <a:ext cx="2788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Preview, publish, and measure impact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093208"/>
            <a:ext cx="7498079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093208"/>
            <a:ext cx="502920" cy="1463040"/>
          </a:xfrm>
          <a:prstGeom prst="roundRect">
            <a:avLst>
              <a:gd name="adj" fmla="val 10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5093208"/>
            <a:ext cx="201168" cy="146304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556869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184648"/>
            <a:ext cx="63093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🔬  Hands-On Lab &amp; Q&amp;A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68696"/>
            <a:ext cx="67208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Segoe UI"/>
              </a:rPr>
              <a:t>Build a complete flow from scratch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What is WalkMe?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1 — Introduction to Digital Adoption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11548872" cy="1078992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6420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WalkMe is a Digital Adoption Platform (DAP)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214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5FF"/>
                </a:solidFill>
                <a:latin typeface="Segoe UI"/>
              </a:rPr>
              <a:t>It overlays real-time guidance on top of any web application — no code changes needed by end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34640"/>
            <a:ext cx="3474720" cy="14173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834640"/>
            <a:ext cx="109728" cy="14173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FF"/>
                </a:solidFill>
                <a:latin typeface="Segoe UI"/>
              </a:rPr>
              <a:t>Who Uses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9184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HR, IT, Sales Ops, L&amp;D, Customer Success teams who want users to succeed in enterprise software.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834640"/>
            <a:ext cx="3474720" cy="14173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2834640"/>
            <a:ext cx="109728" cy="14173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FF"/>
                </a:solidFill>
                <a:latin typeface="Segoe UI"/>
              </a:rPr>
              <a:t>What Problem?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9184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Users forget training, skip steps, and call support. WalkMe shows them exactly what to do — live.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834640"/>
            <a:ext cx="4160520" cy="14173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2834640"/>
            <a:ext cx="109728" cy="14173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5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260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FF"/>
                </a:solidFill>
                <a:latin typeface="Segoe UI"/>
              </a:rPr>
              <a:t>How Does It Work?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91840"/>
            <a:ext cx="3337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browser extension (test) or script tag (production) injects WalkMe guidance into any web page.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407408"/>
            <a:ext cx="11548872" cy="11430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407408"/>
            <a:ext cx="109728" cy="1143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498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98848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FF"/>
                </a:solidFill>
                <a:latin typeface="Segoe UI"/>
              </a:rPr>
              <a:t>Content You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64608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Smart Walk-Thrus · SmartTips · ShoutOuts · Launchers · Resources — all created in the WalkMe Editor.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Key Terminology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1 — Know the language before you 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81912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1581912"/>
            <a:ext cx="320040" cy="100584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1636776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EFF"/>
                </a:solidFill>
                <a:latin typeface="Segoe UI"/>
              </a:rPr>
              <a:t>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002536"/>
            <a:ext cx="4297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single instruction inside a Walk-Thru (e.g., 'Click Save', 'Enter your name').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81912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6792" y="1581912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68312" y="1581912"/>
            <a:ext cx="320040" cy="100584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83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1" y="1636776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DFF"/>
                </a:solidFill>
                <a:latin typeface="Segoe UI"/>
              </a:rPr>
              <a:t>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1" y="2002536"/>
            <a:ext cx="4297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sequence of Steps guiding a user through a complete task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697480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69748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2697480"/>
            <a:ext cx="320040" cy="10058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898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2752344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  <a:latin typeface="Segoe UI"/>
              </a:rPr>
              <a:t>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3118104"/>
            <a:ext cx="4297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The unique fingerprint WalkMe uses to identify a specific element on the page.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92" y="2697480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269748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68312" y="2697480"/>
            <a:ext cx="32004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898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1" y="2752344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Segoe UI"/>
              </a:rPr>
              <a:t>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1" y="3118104"/>
            <a:ext cx="4297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The condition that starts a WalkMe item — auto on page load, on click, by URL, etc.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13048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813048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3813048"/>
            <a:ext cx="3200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14215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19" y="3867911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Segoe UI"/>
              </a:rPr>
              <a:t>Segment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19" y="4233672"/>
            <a:ext cx="4297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rule to show content only to specific users (e.g., role, location, system data).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6792" y="3813048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36792" y="3813048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68312" y="3813048"/>
            <a:ext cx="320040" cy="100584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9672" y="4014215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1" y="3867911"/>
            <a:ext cx="4297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EFF"/>
                </a:solidFill>
                <a:latin typeface="Segoe UI"/>
              </a:rPr>
              <a:t>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1" y="4233672"/>
            <a:ext cx="42976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Separate workspaces: Test (for building) vs. Production (what users see).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928616"/>
            <a:ext cx="1154887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4928616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1560" y="4928616"/>
            <a:ext cx="320040" cy="100584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12978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19" y="4983480"/>
            <a:ext cx="10268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DFF"/>
                </a:solidFill>
                <a:latin typeface="Segoe UI"/>
              </a:rPr>
              <a:t>Publish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19" y="5349240"/>
            <a:ext cx="10268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The action of pushing saved Draft content live so end users can see it.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The WalkMe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2 — Your Command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81328"/>
            <a:ext cx="3108960" cy="5029200"/>
          </a:xfrm>
          <a:prstGeom prst="roundRect">
            <a:avLst>
              <a:gd name="adj" fmla="val 12000"/>
            </a:avLst>
          </a:prstGeom>
          <a:solidFill>
            <a:srgbClr val="1E1E2E"/>
          </a:solidFill>
          <a:ln w="19050">
            <a:solidFill>
              <a:srgbClr val="0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81328"/>
            <a:ext cx="3108960" cy="34747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51790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⚡  WalkMe Editor</a:t>
            </a:r>
          </a:p>
        </p:txBody>
      </p:sp>
      <p:sp>
        <p:nvSpPr>
          <p:cNvPr id="13" name="Oval 12"/>
          <p:cNvSpPr/>
          <p:nvPr/>
        </p:nvSpPr>
        <p:spPr>
          <a:xfrm>
            <a:off x="3227832" y="1591056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26663" y="1591056"/>
            <a:ext cx="128016" cy="128016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25496" y="1591056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59" y="1892808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1911096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Segoe UI"/>
              </a:rPr>
              <a:t>+ New Item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59" y="2240280"/>
            <a:ext cx="30175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42316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▸ Walk-Thrus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267919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  ○ Expense SWT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2935224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  ○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3191256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▸ SmartTips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447288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  ○ Field Help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370332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▸ ShoutOuts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3959352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▸ Launchers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4215384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▸ Resources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1600200"/>
            <a:ext cx="8302752" cy="713232"/>
          </a:xfrm>
          <a:prstGeom prst="roundRect">
            <a:avLst>
              <a:gd name="adj" fmla="val 8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1600200"/>
            <a:ext cx="91440" cy="71323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1645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  <a:latin typeface="Segoe UI"/>
              </a:rPr>
              <a:t>① WalkMe Toolbar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194767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The floating editor appears as a panel in your browser when the extension is active.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2450592"/>
            <a:ext cx="8302752" cy="713232"/>
          </a:xfrm>
          <a:prstGeom prst="roundRect">
            <a:avLst>
              <a:gd name="adj" fmla="val 8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66160" y="2450592"/>
            <a:ext cx="91440" cy="71323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24963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EFF"/>
                </a:solidFill>
                <a:latin typeface="Segoe UI"/>
              </a:rPr>
              <a:t>② '+ New Item' Button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2798064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Click this to create any new content: Walk-Thru, SmartTip, ShoutOut, Launcher, or Resource.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3300984"/>
            <a:ext cx="8302752" cy="713232"/>
          </a:xfrm>
          <a:prstGeom prst="roundRect">
            <a:avLst>
              <a:gd name="adj" fmla="val 8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3300984"/>
            <a:ext cx="9144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7328" y="3346703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"/>
              </a:rPr>
              <a:t>③ Content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8" y="3648456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All your saved items live here, grouped by type. Click any item to edit 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4151376"/>
            <a:ext cx="8302752" cy="713232"/>
          </a:xfrm>
          <a:prstGeom prst="roundRect">
            <a:avLst>
              <a:gd name="adj" fmla="val 8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66160" y="4151376"/>
            <a:ext cx="91440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67328" y="41970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Segoe UI"/>
              </a:rPr>
              <a:t>④ Element Capture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7328" y="4498848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The crosshair 🎯 icon activates capture mode — hover and click any page element to build a selector.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5001768"/>
            <a:ext cx="8302752" cy="713232"/>
          </a:xfrm>
          <a:prstGeom prst="roundRect">
            <a:avLst>
              <a:gd name="adj" fmla="val 8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6160" y="5001768"/>
            <a:ext cx="91440" cy="713232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67328" y="50474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DFF"/>
                </a:solidFill>
                <a:latin typeface="Segoe UI"/>
              </a:rPr>
              <a:t>⑤ Publish Button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7328" y="5349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When ready, click Publish to push your content live to the selected environment.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Smart Walk-Thrus (SWT)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3 — Step-by-step guided 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594360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737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367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What is an SWT?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842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An interactive overlay that walks users through any task, step by step, live on the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05456"/>
            <a:ext cx="594360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6700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69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Step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169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Bubble (tooltip), Click, Type, Select, Alert, Hotspot, Frame, and Auto-Step.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38144"/>
            <a:ext cx="594360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60273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0215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Element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496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WalkMe auto-generates selectors. You click the element — it handles the rest.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70832"/>
            <a:ext cx="594360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45354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434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Smart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823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Steps advance automatically when the user clicks, types, or a condition is met — no back button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03520"/>
            <a:ext cx="594360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54681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67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Best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7150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Keep flows to 5–8 steps. Break large processes into multiple focused Walk-Thrus.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481328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481328"/>
            <a:ext cx="54864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92240" y="1600200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93407" y="1600200"/>
            <a:ext cx="128016" cy="128016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94576" y="160020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78040" y="1545336"/>
            <a:ext cx="457200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15636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Segoe UI"/>
              </a:rPr>
              <a:t>https://demo.walkme.com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938528"/>
            <a:ext cx="5303520" cy="10972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139696"/>
            <a:ext cx="3387852" cy="4023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36454" y="2139696"/>
            <a:ext cx="1563624" cy="402336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25856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First 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5392" y="242316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276148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Last Name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65392" y="292608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32644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Email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65392" y="342900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69680" y="2167128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19" y="2231136"/>
            <a:ext cx="1828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👋 Click 'First Name'
and enter your name.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32519" y="2441448"/>
            <a:ext cx="164592" cy="164592"/>
          </a:xfrm>
          <a:prstGeom prst="round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69880" y="2020824"/>
            <a:ext cx="502920" cy="256032"/>
          </a:xfrm>
          <a:prstGeom prst="roundRect">
            <a:avLst>
              <a:gd name="adj" fmla="val 8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88167" y="203911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B2A"/>
                </a:solidFill>
                <a:latin typeface="Segoe UI"/>
              </a:rPr>
              <a:t>1 /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1508760"/>
            <a:ext cx="5394960" cy="2743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152704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Segoe UI"/>
              </a:rPr>
              <a:t>▶ Live preview — SWT Bubble on a form page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How to Build a Smart Walk-Thru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3 — Follow these 8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19" y="1682495"/>
            <a:ext cx="594360" cy="5943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7" y="1719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7744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EFF"/>
                </a:solidFill>
                <a:latin typeface="Segoe UI"/>
              </a:rPr>
              <a:t>Open the WalkMe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83463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Click the WalkMe browser extension icon → editor panel opens.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395728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EFF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1572768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1688" y="1682495"/>
            <a:ext cx="594360" cy="594360"/>
          </a:xfrm>
          <a:prstGeom prst="ellipse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719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37744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AA"/>
                </a:solidFill>
                <a:latin typeface="Segoe UI"/>
              </a:rPr>
              <a:t>Click  '+ New Item'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83463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From the dropdown, choose  'Smart Walk-Thru'.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2395728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AA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572768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6056" y="1682495"/>
            <a:ext cx="594360" cy="594360"/>
          </a:xfrm>
          <a:prstGeom prst="ellipse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4344" y="1719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237744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2DFF"/>
                </a:solidFill>
                <a:latin typeface="Segoe UI"/>
              </a:rPr>
              <a:t>Name Your Walk-Thru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83463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Use an action phrase:  'Submit Expense Report'  (verb + object).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2395728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2DFF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53144" y="1572768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50424" y="1682495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2" y="1719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37744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Segoe UI"/>
              </a:rPr>
              <a:t>Click  '+ Add Step'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283463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Choose step type — 'Bubble' is the most common starting point.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04487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417319" y="4014215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5607" y="40507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4709159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Segoe UI"/>
              </a:rPr>
              <a:t>Activate Capture Mode 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516635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Click the crosshair icon then click the target element on the page.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35808" y="4727448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Segoe U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64408" y="3904487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61688" y="4014215"/>
            <a:ext cx="594360" cy="5943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6" y="40507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4136" y="4709159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EFF"/>
                </a:solidFill>
                <a:latin typeface="Segoe UI"/>
              </a:rPr>
              <a:t>Write the Instruction 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4136" y="516635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Keep it short:  'Click the Save button.'  Use plain language.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0176" y="4727448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6EFF"/>
                </a:solidFill>
                <a:latin typeface="Segoe U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8776" y="3904487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6056" y="4014215"/>
            <a:ext cx="594360" cy="594360"/>
          </a:xfrm>
          <a:prstGeom prst="ellipse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24344" y="40507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8504" y="4709159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AA"/>
                </a:solidFill>
                <a:latin typeface="Segoe UI"/>
              </a:rPr>
              <a:t>Set the Step 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8504" y="516635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Choose what triggers the next step: On Click, On Change, etc.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4727448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AA"/>
                </a:solidFill>
                <a:latin typeface="Segoe U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53144" y="3904487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50424" y="4014215"/>
            <a:ext cx="594360" cy="594360"/>
          </a:xfrm>
          <a:prstGeom prst="ellipse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68712" y="405079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4709159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2DFF"/>
                </a:solidFill>
                <a:latin typeface="Segoe UI"/>
              </a:rPr>
              <a:t>Preview → Publish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62872" y="5166359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CDDEE"/>
                </a:solidFill>
                <a:latin typeface="Segoe UI"/>
              </a:rPr>
              <a:t>Click Preview to test, fix issues, then Publish to your environment.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SWT Step Types —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3 — Choose the right step for each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81912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81912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56231"/>
            <a:ext cx="2788920" cy="2286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55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💬  Bubble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17627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Shows a tooltip balloon pointing at an element. Most common step type. Great for instructions.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581912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581912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856231"/>
            <a:ext cx="2788920" cy="22860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655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👆  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7627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Waits for the user to click a specific element before advancing to the next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581912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581912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856231"/>
            <a:ext cx="2788920" cy="2286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655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⌨️ 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217627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Waits for the user to type in a field. Can validate minimum character 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581912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53144" y="1581912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53144" y="1856231"/>
            <a:ext cx="278892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1655064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☑️  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17627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Used for dropdown menus — waits for a specific option to be selected.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13631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913631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187951"/>
            <a:ext cx="278892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3986783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🔔 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50799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Pops up a modal message with OK/Cancel — use for warnings or confirmations.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913631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913631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4187951"/>
            <a:ext cx="278892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55848" y="3986783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📍  Hotspot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4136" y="450799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pulsing beacon that draws attention to an element without requiring action.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8776" y="3913631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8776" y="3913631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8776" y="4187951"/>
            <a:ext cx="2788920" cy="2286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3986783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🖼️  Frame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50799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Highlights a section of the page with a spotlight frame — ideal for orientation.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53144" y="3913631"/>
            <a:ext cx="27889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53144" y="3913631"/>
            <a:ext cx="2788920" cy="502920"/>
          </a:xfrm>
          <a:prstGeom prst="roundRect">
            <a:avLst>
              <a:gd name="adj" fmla="val 10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53144" y="4187951"/>
            <a:ext cx="2788920" cy="22860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44584" y="3986783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⚡  Auto-Step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4507992"/>
            <a:ext cx="25786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Automatically advances when a condition is detected (URL change, element appears).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SmartTips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4 — Contextual help at the point of need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Segoe UI"/>
              </a:rPr>
              <a:t>How to Create a SmartTip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5303520" cy="4572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2768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7685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Click  '+ New Item'  → Select  'SmartTip'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0779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94436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Click the crosshair 🎯 and click the target field/element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6118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Write your tip text (keep it under 30 words!)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4281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27939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793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Set Trigger:  Hover  (mouse over)  or  Focus  (tab into field)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103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94690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4690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Optionally add an image, link, or video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778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6144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144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Click Save → Preview → Publish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572768"/>
            <a:ext cx="565099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572768"/>
            <a:ext cx="5650992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09359" y="1691640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0527" y="1691640"/>
            <a:ext cx="128016" cy="128016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11696" y="169164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95159" y="1636776"/>
            <a:ext cx="4736592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1655064"/>
            <a:ext cx="4553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Segoe UI"/>
              </a:rPr>
              <a:t>https://demo.walkme.com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2029967"/>
            <a:ext cx="5468112" cy="10972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59" y="2231136"/>
            <a:ext cx="3494836" cy="3931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65496" y="2231136"/>
            <a:ext cx="1613001" cy="3931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23500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First Name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251460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852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Last Name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2512" y="301752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3355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Email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352044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86800" y="3081528"/>
            <a:ext cx="1828800" cy="64008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0" y="3081528"/>
            <a:ext cx="1828800" cy="36576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31546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💡 Use your work email
(e.g. name@company.com)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600200"/>
            <a:ext cx="5559552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1618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Segoe UI"/>
              </a:rPr>
              <a:t>▶ SmartTip tooltip on Email field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6217920"/>
            <a:ext cx="11548872" cy="228600"/>
          </a:xfrm>
          <a:prstGeom prst="roundRect">
            <a:avLst>
              <a:gd name="adj" fmla="val 6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ShoutOuts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4 — Announcements, banners &amp; notifications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565099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5650992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79" y="1691640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1691640"/>
            <a:ext cx="128016" cy="128016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5" y="169164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1636776"/>
            <a:ext cx="4736592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1655064"/>
            <a:ext cx="4553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Segoe UI"/>
              </a:rPr>
              <a:t>https://demo.walkme.com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2029967"/>
            <a:ext cx="5468112" cy="10972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" y="2231136"/>
            <a:ext cx="3494836" cy="3931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7616" y="2231136"/>
            <a:ext cx="1613001" cy="3931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3500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First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251460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852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Last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301752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355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352044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59" y="1984248"/>
            <a:ext cx="5559552" cy="4572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011680"/>
            <a:ext cx="5285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🎉  New Feature Alert!  Try the new Dashboard  →  Explore Now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600200"/>
            <a:ext cx="5559552" cy="274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618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Segoe UI"/>
              </a:rPr>
              <a:t>▶ ShoutOut banner at top of page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572768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572768"/>
            <a:ext cx="502920" cy="118872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572768"/>
            <a:ext cx="292608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192024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168249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Segoe UI"/>
              </a:rPr>
              <a:t>Banner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2048256"/>
            <a:ext cx="48280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Horizontal bar at top or bottom of the page. Least intrusive — great for announcements.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871215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2871215"/>
            <a:ext cx="502920" cy="1188720"/>
          </a:xfrm>
          <a:prstGeom prst="roundRect">
            <a:avLst>
              <a:gd name="adj" fmla="val 8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2871215"/>
            <a:ext cx="292608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3218687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29809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EFF"/>
                </a:solidFill>
                <a:latin typeface="Segoe UI"/>
              </a:rPr>
              <a:t>Modal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346703"/>
            <a:ext cx="48280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Center-screen overlay with close button. Best for important messages requiring user action.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169663"/>
            <a:ext cx="5577840" cy="1188720"/>
          </a:xfrm>
          <a:prstGeom prst="roundRect">
            <a:avLst>
              <a:gd name="adj" fmla="val 8000"/>
            </a:avLst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169663"/>
            <a:ext cx="502920" cy="1188720"/>
          </a:xfrm>
          <a:prstGeom prst="roundRect">
            <a:avLst>
              <a:gd name="adj" fmla="val 8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4169663"/>
            <a:ext cx="292608" cy="1188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451713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AA"/>
                </a:solidFill>
                <a:latin typeface="Segoe UI"/>
              </a:rPr>
              <a:t>Beacon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4645152"/>
            <a:ext cx="48280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Segoe UI"/>
              </a:rPr>
              <a:t>A pulsing dot that expands to a card when clicked. Subtle, non-disruptive option.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572000"/>
            <a:ext cx="5577840" cy="1938528"/>
          </a:xfrm>
          <a:prstGeom prst="roundRect">
            <a:avLst>
              <a:gd name="adj" fmla="val 8000"/>
            </a:avLst>
          </a:prstGeom>
          <a:solidFill>
            <a:srgbClr val="1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663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Segoe UI"/>
              </a:rPr>
              <a:t>How to Create a ShoutOut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074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① Click '+ New Item' → ShoutOut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3400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② Choose a Layout: Banner / Modal / Beacon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6052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③ Edit text, images, and CTA buttons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8704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④ Set Trigger: Page load / URL / Date range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61356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⑤ Save → Preview → Publish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Launchers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5 — On-demand triggers for WalkMe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5029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502920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79" y="1691640"/>
            <a:ext cx="128016" cy="12801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1691640"/>
            <a:ext cx="128016" cy="128016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5" y="1691640"/>
            <a:ext cx="128016" cy="12801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1636776"/>
            <a:ext cx="4114800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16550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578"/>
                </a:solidFill>
                <a:latin typeface="Segoe UI"/>
              </a:rPr>
              <a:t>https://demo.walkme.com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2029967"/>
            <a:ext cx="4846320" cy="109728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" y="2231136"/>
            <a:ext cx="3090672" cy="3931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44798" y="2231136"/>
            <a:ext cx="1426464" cy="3931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3500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First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" y="251460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8529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Last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301752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3558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578"/>
                </a:solidFill>
                <a:latin typeface="Segoe UI"/>
              </a:rPr>
              <a:t>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3520440"/>
            <a:ext cx="219456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54879" y="5961888"/>
            <a:ext cx="438912" cy="438912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1" y="5998464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600200"/>
            <a:ext cx="493776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61848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Segoe UI"/>
              </a:rPr>
              <a:t>▶ Launcher button — bottom right corner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572768"/>
            <a:ext cx="6291072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16642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Segoe UI"/>
              </a:rPr>
              <a:t>What is a Launcher?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084831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Segoe UI"/>
              </a:rPr>
              <a:t>A clickable icon or button users can click to start a Walk-Thru, open a Resource, or navigate to a URL — on demand, not forced.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788920"/>
            <a:ext cx="5943600" cy="45720"/>
          </a:xfrm>
          <a:prstGeom prst="rect">
            <a:avLst/>
          </a:prstGeom>
          <a:solidFill>
            <a:srgbClr val="D0D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28803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Segoe UI"/>
              </a:rPr>
              <a:t>How to Create a Launcher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3101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Segoe UI"/>
              </a:rPr>
              <a:t>① Click '+ New Item' → Launcher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36850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Segoe UI"/>
              </a:rPr>
              <a:t>② Choose an icon (WalkMe library or custom)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05993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Segoe UI"/>
              </a:rPr>
              <a:t>③ Set what it launches: Walk-Thru / Resource / 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4348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Segoe UI"/>
              </a:rPr>
              <a:t>④ Anchor it to a page element or set it as floating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80974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Segoe UI"/>
              </a:rPr>
              <a:t>⑤ Add a tooltip label (e.g., 'How do I submit?')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51846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4A"/>
                </a:solidFill>
                <a:latin typeface="Segoe UI"/>
              </a:rPr>
              <a:t>⑥ Save → Preview → Publish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5577840"/>
            <a:ext cx="5989320" cy="914400"/>
          </a:xfrm>
          <a:prstGeom prst="roundRect">
            <a:avLst>
              <a:gd name="adj" fmla="val 10000"/>
            </a:avLst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60720" y="5577840"/>
            <a:ext cx="109728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5669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669279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Segoe UI"/>
              </a:rPr>
              <a:t>Best Practice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6035040"/>
            <a:ext cx="5166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Label Launchers clearly using action language: 'How do I submit a report?' Place them near the task they support — not floating randomly on every page.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Resources &amp; Resource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5 — Surface help content inside your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27889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2788920" cy="566928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2788920" cy="219456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64592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📄  Article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24028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text / rich-media help article authored directly inside WalkMe or pulled from a URL.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572768"/>
            <a:ext cx="27889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572768"/>
            <a:ext cx="2788920" cy="566928"/>
          </a:xfrm>
          <a:prstGeom prst="roundRect">
            <a:avLst>
              <a:gd name="adj" fmla="val 10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64408" y="1920240"/>
            <a:ext cx="2788920" cy="219456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64592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🎬 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24028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Embed a YouTube, Vimeo, or hosted video clip for visual learners.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572768"/>
            <a:ext cx="27889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572768"/>
            <a:ext cx="2788920" cy="566928"/>
          </a:xfrm>
          <a:prstGeom prst="roundRect">
            <a:avLst>
              <a:gd name="adj" fmla="val 10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920240"/>
            <a:ext cx="2788920" cy="219456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164592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🔗 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224028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A URL to any external page — knowledge base, policy doc, external training.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572768"/>
            <a:ext cx="27889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53144" y="1572768"/>
            <a:ext cx="2788920" cy="566928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53144" y="1920240"/>
            <a:ext cx="2788920" cy="21945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645920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🚶  Walk-Thru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240280"/>
            <a:ext cx="25786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Launch an SWT directly from the Resource Center for hands-on guidance.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37560"/>
            <a:ext cx="11548872" cy="3172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2900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E4A"/>
                </a:solidFill>
                <a:latin typeface="Segoe UI"/>
              </a:rPr>
              <a:t>📚  Resource Center — The In-App Help Widget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31920"/>
            <a:ext cx="3474720" cy="237744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931920"/>
            <a:ext cx="3474720" cy="411480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160520"/>
            <a:ext cx="3474720" cy="18288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9593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🔍  Search help...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425696"/>
            <a:ext cx="3291840" cy="393192"/>
          </a:xfrm>
          <a:prstGeom prst="roundRect">
            <a:avLst>
              <a:gd name="adj" fmla="val 6000"/>
            </a:avLst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489704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📄 Submit an Expense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892040"/>
            <a:ext cx="3291840" cy="393192"/>
          </a:xfrm>
          <a:prstGeom prst="roundRect">
            <a:avLst>
              <a:gd name="adj" fmla="val 6000"/>
            </a:avLst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956048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🎬 Getting Started Video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358383"/>
            <a:ext cx="3291840" cy="393192"/>
          </a:xfrm>
          <a:prstGeom prst="roundRect">
            <a:avLst>
              <a:gd name="adj" fmla="val 6000"/>
            </a:avLst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4223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🚶 Create a New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824728"/>
            <a:ext cx="3291840" cy="393192"/>
          </a:xfrm>
          <a:prstGeom prst="roundRect">
            <a:avLst>
              <a:gd name="adj" fmla="val 6000"/>
            </a:avLst>
          </a:prstGeom>
          <a:solidFill>
            <a:srgbClr val="2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888736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🔗 HR Policy Handbook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  <a:latin typeface="Segoe UI"/>
              </a:rPr>
              <a:t>How to create a Resource Center: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3434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Segoe UI"/>
              </a:rPr>
              <a:t>① Editor → Widgets → Resource Center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7731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Segoe UI"/>
              </a:rPr>
              <a:t>② Click '+ Add Item' → choose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2029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Segoe UI"/>
              </a:rPr>
              <a:t>③ Organize into categories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6327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Segoe UI"/>
              </a:rPr>
              <a:t>④ Set the Widget trigger (Launcher / auto-show)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60624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8"/>
                </a:solidFill>
                <a:latin typeface="Segoe UI"/>
              </a:rPr>
              <a:t>⑤ Save → Publish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931920"/>
            <a:ext cx="3291840" cy="23774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0" y="3931920"/>
            <a:ext cx="109728" cy="23774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59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4023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  <a:latin typeface="Segoe UI"/>
              </a:rPr>
              <a:t>Pro Tip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3891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8"/>
                </a:solidFill>
                <a:latin typeface="Segoe UI"/>
              </a:rPr>
              <a:t>Name Resources with search-friendly titles: 'How to submit an expense' rather than just 'Expense Form'.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Publishing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6 — From build to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1274552" cy="73152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7" y="3182112"/>
            <a:ext cx="594360" cy="5943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2186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50208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416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EFF"/>
                </a:solidFill>
                <a:latin typeface="Segoe UI"/>
              </a:rPr>
              <a:t>Save (Draft)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26279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Segoe UI"/>
              </a:rPr>
              <a:t>Content auto-saves as Draft. Saved ≠ Published. Users cannot see Drafts.</a:t>
            </a:r>
          </a:p>
        </p:txBody>
      </p:sp>
      <p:sp>
        <p:nvSpPr>
          <p:cNvPr id="16" name="Oval 15"/>
          <p:cNvSpPr/>
          <p:nvPr/>
        </p:nvSpPr>
        <p:spPr>
          <a:xfrm>
            <a:off x="2953512" y="3182112"/>
            <a:ext cx="594360" cy="594360"/>
          </a:xfrm>
          <a:prstGeom prst="ellipse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32186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👁️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5144" y="3950208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40416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2DFF"/>
                </a:solidFill>
                <a:latin typeface="Segoe UI"/>
              </a:rP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6584" y="4526279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Segoe UI"/>
              </a:rPr>
              <a:t>Click Preview and walk through the flow as a real user. Fix any broken steps.</a:t>
            </a:r>
          </a:p>
        </p:txBody>
      </p:sp>
      <p:sp>
        <p:nvSpPr>
          <p:cNvPr id="21" name="Oval 20"/>
          <p:cNvSpPr/>
          <p:nvPr/>
        </p:nvSpPr>
        <p:spPr>
          <a:xfrm>
            <a:off x="4928616" y="3182112"/>
            <a:ext cx="594360" cy="594360"/>
          </a:xfrm>
          <a:prstGeom prst="ellipse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2186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950208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40416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AA"/>
                </a:solidFill>
                <a:latin typeface="Segoe UI"/>
              </a:rPr>
              <a:t>Publish to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526279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Segoe UI"/>
              </a:rPr>
              <a:t>Push to Test environment. Share with QA teammates using the WalkMe test extension.</a:t>
            </a:r>
          </a:p>
        </p:txBody>
      </p:sp>
      <p:sp>
        <p:nvSpPr>
          <p:cNvPr id="26" name="Oval 25"/>
          <p:cNvSpPr/>
          <p:nvPr/>
        </p:nvSpPr>
        <p:spPr>
          <a:xfrm>
            <a:off x="6903720" y="3182112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32186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3950208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0416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Segoe UI"/>
              </a:rPr>
              <a:t>User Acceptance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526279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Segoe UI"/>
              </a:rPr>
              <a:t>Open incognito, navigate to the live app, and experience the flow as an end user would.</a:t>
            </a:r>
          </a:p>
        </p:txBody>
      </p:sp>
      <p:sp>
        <p:nvSpPr>
          <p:cNvPr id="31" name="Oval 30"/>
          <p:cNvSpPr/>
          <p:nvPr/>
        </p:nvSpPr>
        <p:spPr>
          <a:xfrm>
            <a:off x="8878824" y="3182112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32186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3950208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40416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Segoe UI"/>
              </a:rPr>
              <a:t>Publish to 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526279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Segoe UI"/>
              </a:rPr>
              <a:t>Green-light it! End users will see your content on their next page load.</a:t>
            </a:r>
          </a:p>
        </p:txBody>
      </p:sp>
      <p:sp>
        <p:nvSpPr>
          <p:cNvPr id="36" name="Oval 35"/>
          <p:cNvSpPr/>
          <p:nvPr/>
        </p:nvSpPr>
        <p:spPr>
          <a:xfrm>
            <a:off x="10853928" y="3182112"/>
            <a:ext cx="594360" cy="594360"/>
          </a:xfrm>
          <a:prstGeom prst="ellipse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63072" y="321868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3950208"/>
            <a:ext cx="1874519" cy="2468880"/>
          </a:xfrm>
          <a:prstGeom prst="roundRect">
            <a:avLst>
              <a:gd name="adj" fmla="val 8000"/>
            </a:avLst>
          </a:prstGeom>
          <a:solidFill>
            <a:srgbClr val="1A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404164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EFF"/>
                </a:solidFill>
                <a:latin typeface="Segoe UI"/>
              </a:rPr>
              <a:t>Monitor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4526279"/>
            <a:ext cx="1691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Segoe UI"/>
              </a:rPr>
              <a:t>Check WalkMe Insights: completion rate, drop-off steps, unique plays. Iterate!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572768"/>
            <a:ext cx="11548872" cy="1234440"/>
          </a:xfrm>
          <a:prstGeom prst="roundRect">
            <a:avLst>
              <a:gd name="adj" fmla="val 8000"/>
            </a:avLst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1627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  <a:latin typeface="Segoe UI"/>
              </a:rPr>
              <a:t>⚠️  Golden Rules of Publishing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202996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①  Always preview before you publish.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202996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②  Never publish straight to Production — test first.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0456" y="2029968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③  Check on mobile / different browsers if your users use them.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Best Practices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6 — Build right from the 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5669280" cy="54864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566928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276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✅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Write in plain language: 'Click Save'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358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One task per Walk-Thru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48456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398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Preview before every publish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52544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43983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Name items clearly &amp; consistently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56632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480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Use segments to target the right users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Review analytics monthly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572768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572768"/>
            <a:ext cx="5669280" cy="548640"/>
          </a:xfrm>
          <a:prstGeom prst="roundRect">
            <a:avLst>
              <a:gd name="adj" fmla="val 8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920240"/>
            <a:ext cx="566928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6276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❌ DON'T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40280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79" y="23317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Use jargon or acronyms users won't know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944368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79" y="30358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Cram 15 steps into one 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648456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9" y="37398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Publish without testing in incognito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52544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79" y="4443983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Name items 'New Walk-Thru 1'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056632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51480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Show everything to everyone always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760720"/>
            <a:ext cx="5394960" cy="594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79" y="58521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A"/>
                </a:solidFill>
                <a:latin typeface="Segoe UI"/>
              </a:rPr>
              <a:t>Ignore broken selectors after UI changes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533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88952" cy="6400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8046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Module 7 — Build it yourself on the WalkMe demo site!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2011680" cy="292608"/>
          </a:xfrm>
          <a:prstGeom prst="roundRect">
            <a:avLst>
              <a:gd name="adj" fmla="val 15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9903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Module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72768"/>
            <a:ext cx="11548872" cy="749808"/>
          </a:xfrm>
          <a:prstGeom prst="roundRect">
            <a:avLst>
              <a:gd name="adj" fmla="val 8000"/>
            </a:avLst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⏱️  Time: 45 min build  +  15 min group debrief       🌐  Site: demo.walkme.com (provided by instructor)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669280" cy="1828800"/>
          </a:xfrm>
          <a:prstGeom prst="roundRect">
            <a:avLst>
              <a:gd name="adj" fmla="val 10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87168"/>
            <a:ext cx="5669280" cy="475488"/>
          </a:xfrm>
          <a:prstGeom prst="roundRect">
            <a:avLst>
              <a:gd name="adj" fmla="val 10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761488"/>
            <a:ext cx="5669280" cy="201168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60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Task 1 — Smart Walk-Thru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54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Create a Walk-Thru with at least 5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649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Include a Click step, a Type step, and a Bubble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75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Use meaningful step text (action verbs!)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86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Preview and fix any broken selectors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487168"/>
            <a:ext cx="5669280" cy="1828800"/>
          </a:xfrm>
          <a:prstGeom prst="roundRect">
            <a:avLst>
              <a:gd name="adj" fmla="val 10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487168"/>
            <a:ext cx="5669280" cy="475488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761488"/>
            <a:ext cx="5669280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60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Task 2 — SmartTip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54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Add a SmartTip to a form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649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Set trigger to 'Focus' (fires when user tabs into field)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75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Write a helpful 1-sentence tip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86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Preview it by clicking into the field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498848"/>
            <a:ext cx="5669280" cy="1828800"/>
          </a:xfrm>
          <a:prstGeom prst="roundRect">
            <a:avLst>
              <a:gd name="adj" fmla="val 10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498848"/>
            <a:ext cx="5669280" cy="475488"/>
          </a:xfrm>
          <a:prstGeom prst="roundRect">
            <a:avLst>
              <a:gd name="adj" fmla="val 10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773168"/>
            <a:ext cx="5669280" cy="201168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72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Task 3 — Launcher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657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Create a Launcher that starts your Walk-Thru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766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Choose an icon from the WalkMe library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875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Add a tooltip label to the Launcher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998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Anchor it near the relevant form or button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498848"/>
            <a:ext cx="5669280" cy="1828800"/>
          </a:xfrm>
          <a:prstGeom prst="roundRect">
            <a:avLst>
              <a:gd name="adj" fmla="val 10000"/>
            </a:avLst>
          </a:prstGeom>
          <a:solidFill>
            <a:srgbClr val="1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498848"/>
            <a:ext cx="5669280" cy="475488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773168"/>
            <a:ext cx="5669280" cy="2011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572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Task 4 — Publish &amp;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657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Publish all 3 items to Test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766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Open incognito and walk your neighbor through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875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Note what worked and what to improve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998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  ☐  Be ready to share 1 lesson learned with the group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73152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"/>
            <a:ext cx="11338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CCFF"/>
                </a:solidFill>
                <a:latin typeface="Segoe UI"/>
              </a:rPr>
              <a:t>You've completed WalkMe Builder 1 — here's what you've learned and where to go from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5486400" cy="502920"/>
          </a:xfrm>
          <a:prstGeom prst="roundRect">
            <a:avLst>
              <a:gd name="adj" fmla="val 8000"/>
            </a:avLst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5486400" cy="18288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64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Segoe UI"/>
              </a:rPr>
              <a:t>🎓  What You Mastered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Navigating the WalkMe Editor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986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Building Smart Walk-Thrus (5 step types)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844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484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Creating SmartTips &amp; ShoutOuts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02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342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Setting up Launchers &amp; Resources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560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00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Publishing to Test &amp;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418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058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Reading analytics &amp; iterating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27648"/>
            <a:ext cx="521208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3916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✔  Hands-on lab — real WalkMe content!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600200"/>
            <a:ext cx="5788152" cy="4846320"/>
          </a:xfrm>
          <a:prstGeom prst="roundRect">
            <a:avLst>
              <a:gd name="adj" fmla="val 8000"/>
            </a:avLst>
          </a:prstGeom>
          <a:solidFill>
            <a:srgbClr val="1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600200"/>
            <a:ext cx="5788152" cy="502920"/>
          </a:xfrm>
          <a:prstGeom prst="roundRect">
            <a:avLst>
              <a:gd name="adj" fmla="val 8000"/>
            </a:avLst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1920240"/>
            <a:ext cx="5788152" cy="18288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6642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🚀  Your Next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2128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212848"/>
            <a:ext cx="73152" cy="59436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2768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Complete the post-course assessment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8986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898648"/>
            <a:ext cx="73152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9626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Build 1 real Walk-Thru in your app this week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5844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584448"/>
            <a:ext cx="73152" cy="594360"/>
          </a:xfrm>
          <a:prstGeom prst="rect">
            <a:avLst/>
          </a:prstGeom>
          <a:solidFill>
            <a:srgbClr val="7B2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6484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Enroll in WalkMe Builder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2702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270248"/>
            <a:ext cx="73152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3342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Join the WalkMe Community (community.walkme.com)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9560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956048"/>
            <a:ext cx="73152" cy="59436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0200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Bookmark WalkMe Help Center (help.walkme.com)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6418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5641848"/>
            <a:ext cx="73152" cy="59436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7058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Schedule 1:1 with your WalkMe 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6327648"/>
            <a:ext cx="5486400" cy="594360"/>
          </a:xfrm>
          <a:prstGeom prst="roundRect">
            <a:avLst>
              <a:gd name="adj" fmla="val 6000"/>
            </a:avLst>
          </a:prstGeom>
          <a:solidFill>
            <a:srgbClr val="1E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6327648"/>
            <a:ext cx="73152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639165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📌  Share your first Walk-Thru with your team!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Segoe UI"/>
              </a:rPr>
              <a:t>WalkMe Builder 1  ·  Instructor-Led Training  ·  Beginner Level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510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C8AA"/>
                </a:solidFill>
                <a:latin typeface="Segoe UI"/>
              </a:rPr>
              <a:t>16 /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4572000" cy="4572000"/>
          </a:xfrm>
          <a:prstGeom prst="ellipse">
            <a:avLst/>
          </a:prstGeom>
          <a:solidFill>
            <a:srgbClr val="004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002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943600"/>
            <a:ext cx="2286000" cy="2286000"/>
          </a:xfrm>
          <a:prstGeom prst="ellipse">
            <a:avLst/>
          </a:prstGeom>
          <a:solidFill>
            <a:srgbClr val="005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0"/>
            <a:ext cx="91440" cy="68580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004ACC"/>
                </a:solidFill>
                <a:latin typeface="Segoe UI Black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716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C8AA"/>
                </a:solidFill>
                <a:latin typeface="Segoe UI Black"/>
              </a:rPr>
              <a:t>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CCFF"/>
                </a:solidFill>
                <a:latin typeface="Segoe UI"/>
              </a:rPr>
              <a:t>Raise your hand, type in the chat, or ask your instructor!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846320"/>
            <a:ext cx="713232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5029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  <a:latin typeface="Segoe UI"/>
              </a:rPr>
              <a:t>Help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303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  <a:latin typeface="Segoe UI"/>
              </a:rPr>
              <a:t>help.walkme.com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50292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9352" y="5029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  <a:latin typeface="Segoe UI"/>
              </a:rP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5303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  <a:latin typeface="Segoe UI"/>
              </a:rPr>
              <a:t>community.walkme.com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0292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5029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  <a:latin typeface="Segoe UI"/>
              </a:rPr>
              <a:t>WalkMe 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5303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  <a:latin typeface="Segoe UI"/>
              </a:rPr>
              <a:t>university.walkme.com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96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AA"/>
                </a:solidFill>
                <a:latin typeface="Segoe UI"/>
              </a:rPr>
              <a:t>Thank you for attending WalkMe Builder 1!  |  See you in Builder 2!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